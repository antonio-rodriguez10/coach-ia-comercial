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4A90D9">
              <a:alpha val="40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 Comercial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análisis automático de llamadas comerciales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venta consultiva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32004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Rodríguez Galán  ·  Postgrado Creación de Agentes con 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conversión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4251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funcional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4251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28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914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82880" y="2103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llamadas/día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speech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3017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 de media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llamada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40233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Imposible revisar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manualmente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2743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comerciales se basan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resultados, no en el proceso.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20440" y="1143000"/>
            <a:ext cx="5349240" cy="105156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143000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2344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visibilidad real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qué ocurre dentro de las llamadas comerciales.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20440" y="2377440"/>
            <a:ext cx="5349240" cy="105156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20440" y="2377440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4688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Sin análisis estructurado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490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inviable revisar el discurso de forma manual y escalable.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20440" y="3611880"/>
            <a:ext cx="5349240" cy="105156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20440" y="3611880"/>
            <a:ext cx="64008" cy="10515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7033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Formación subjetiva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mejora depende de percepciones, no de datos del proceso.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657600" cy="365760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 Comercial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475488"/>
          </a:xfrm>
          <a:prstGeom prst="rect">
            <a:avLst/>
          </a:prstGeom>
          <a:solidFill>
            <a:srgbClr val="4A90D9">
              <a:alpha val="15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727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mide conversaciones. Analiza cómo se está vendiendo.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2240280"/>
            <a:ext cx="2011680" cy="2514600"/>
          </a:xfrm>
          <a:prstGeom prst="rect">
            <a:avLst/>
          </a:prstGeom>
          <a:solidFill>
            <a:srgbClr val="0F1A3C"/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337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Transcripciones de llamadas reales de forma automática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87752" y="2240280"/>
            <a:ext cx="2011680" cy="2514600"/>
          </a:xfrm>
          <a:prstGeom prst="rect">
            <a:avLst/>
          </a:prstGeom>
          <a:solidFill>
            <a:srgbClr val="0F1A3C"/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7752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87752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79192" y="3337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ejecución del speech por cada fase del embudo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64024" y="2240280"/>
            <a:ext cx="2011680" cy="2514600"/>
          </a:xfrm>
          <a:prstGeom prst="rect">
            <a:avLst/>
          </a:prstGeom>
          <a:solidFill>
            <a:srgbClr val="0F1A3C"/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4024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64024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55464" y="3337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Errores, redundancias y falta de personalización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0296" y="2240280"/>
            <a:ext cx="2011680" cy="2514600"/>
          </a:xfrm>
          <a:prstGeom prst="rect">
            <a:avLst/>
          </a:prstGeom>
          <a:solidFill>
            <a:srgbClr val="0F1A3C"/>
          </a:solidFill>
          <a:ln w="12700">
            <a:solidFill>
              <a:srgbClr val="4A90D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0296" y="23774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40296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31736" y="333756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accionables para el comercial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extremo a extremo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5087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08-23h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56232" y="2103120"/>
            <a:ext cx="1371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2808" y="201168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234440"/>
            <a:ext cx="15087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29968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29968" y="1828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75688" y="22402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speech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2103120"/>
            <a:ext cx="1371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201168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39896" y="1234440"/>
            <a:ext cx="15087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39896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39896" y="1828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85616" y="22402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76088" y="2103120"/>
            <a:ext cx="1371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12664" y="201168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49824" y="1234440"/>
            <a:ext cx="15087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9824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449824" y="1828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95544" y="22402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comercial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día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86016" y="2103120"/>
            <a:ext cx="1371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201168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59752" y="1234440"/>
            <a:ext cx="15087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59752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159752" y="18288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05472" y="22402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719072" y="3337560"/>
            <a:ext cx="1508760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19072" y="33375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hay speech → descartada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tecnológico: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404164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40416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0" y="404164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0" y="40416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0" y="404164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40416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404164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0416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72400" y="4041648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40416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(diseño)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ANALIZA EL AGENTE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8 fases del speech comercial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93392" cy="15544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rapport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1143000"/>
            <a:ext cx="199339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87752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87752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7752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del alumno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72584" y="1143000"/>
            <a:ext cx="1993392" cy="15544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64024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64024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programa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4024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oferta-perfil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48856" y="1143000"/>
            <a:ext cx="1993392" cy="15544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0296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40296" y="16184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0296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avance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199339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148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aprendizaje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96312" y="2926080"/>
            <a:ext cx="1993392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87752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587752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87752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del valor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72584" y="2926080"/>
            <a:ext cx="1993392" cy="15544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64024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64024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64024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matrícula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48856" y="2926080"/>
            <a:ext cx="1993392" cy="155448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40296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940296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0296" y="3886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y compromisos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Fases obligatorias para que la llamada sea analizada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 AGENTE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diario del Director Comercial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321040" cy="658368"/>
          </a:xfrm>
          <a:prstGeom prst="rect">
            <a:avLst/>
          </a:prstGeom>
          <a:solidFill>
            <a:srgbClr val="0F1A3C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990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Resumen ejecutivo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4173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desempeño del comercial en el día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40480" y="1481328"/>
            <a:ext cx="27432" cy="347472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75688"/>
            <a:ext cx="8321040" cy="658368"/>
          </a:xfrm>
          <a:prstGeom prst="rect">
            <a:avLst/>
          </a:prstGeom>
          <a:solidFill>
            <a:srgbClr val="0F1A3C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48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Análisis por fases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216712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detallada de cada fase del embudo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2231136"/>
            <a:ext cx="27432" cy="347472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825496"/>
            <a:ext cx="8321040" cy="658368"/>
          </a:xfrm>
          <a:prstGeom prst="rect">
            <a:avLst/>
          </a:prstGeom>
          <a:solidFill>
            <a:srgbClr val="0F1A3C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986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Fortalezas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23360" y="291693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Aspectos ejecutados correctamente y replicables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840480" y="2980944"/>
            <a:ext cx="27432" cy="347472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575304"/>
            <a:ext cx="8321040" cy="658368"/>
          </a:xfrm>
          <a:prstGeom prst="rect">
            <a:avLst/>
          </a:prstGeom>
          <a:solidFill>
            <a:srgbClr val="0F1A3C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48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Oportunidades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66674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Desviaciones respecto al modelo ideal de venta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0" y="3730752"/>
            <a:ext cx="27432" cy="347472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325112"/>
            <a:ext cx="8321040" cy="658368"/>
          </a:xfrm>
          <a:prstGeom prst="rect">
            <a:avLst/>
          </a:prstGeom>
          <a:solidFill>
            <a:srgbClr val="0F1A3C"/>
          </a:solidFill>
          <a:ln w="12700">
            <a:solidFill>
              <a:srgbClr val="4A90D9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Plan de acción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23360" y="44165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accionables para la próxima llamada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0" y="4480560"/>
            <a:ext cx="27432" cy="347472"/>
          </a:xfrm>
          <a:prstGeom prst="rect">
            <a:avLst/>
          </a:prstGeom>
          <a:solidFill>
            <a:srgbClr val="4A90D9">
              <a:alpha val="60000"/>
            </a:srgbClr>
          </a:solidFill>
          <a:ln w="12700">
            <a:solidFill>
              <a:srgbClr val="4A90D9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800600"/>
            <a:ext cx="8321040" cy="274320"/>
          </a:xfrm>
          <a:prstGeom prst="roundRect">
            <a:avLst>
              <a:gd name="adj" fmla="val 16667"/>
            </a:avLst>
          </a:prstGeom>
          <a:solidFill>
            <a:srgbClr val="4A90D9">
              <a:alpha val="15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tablas son exportables a Excel y Power BI  ·  Si no hay llamadas con speech, no se genera ni envía ningún informe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 · Streamlit + Replit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30352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71016"/>
            <a:ext cx="329184" cy="32918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 Comercial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316736"/>
            <a:ext cx="1298448" cy="237744"/>
          </a:xfrm>
          <a:prstGeom prst="roundRect">
            <a:avLst>
              <a:gd name="adj" fmla="val 3846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3167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Listo para analizar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análisis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1762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comercial y rango de fechas.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1508760" cy="274320"/>
          </a:xfrm>
          <a:prstGeom prst="rect">
            <a:avLst/>
          </a:prstGeom>
          <a:solidFill>
            <a:srgbClr val="EE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67004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▾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67128" y="2468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167128" y="2670048"/>
            <a:ext cx="1508760" cy="274320"/>
          </a:xfrm>
          <a:prstGeom prst="rect">
            <a:avLst/>
          </a:prstGeom>
          <a:solidFill>
            <a:srgbClr val="EE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1992" y="267004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31336" y="24688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fin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31336" y="2670048"/>
            <a:ext cx="1508760" cy="274320"/>
          </a:xfrm>
          <a:prstGeom prst="rect">
            <a:avLst/>
          </a:prstGeom>
          <a:solidFill>
            <a:srgbClr val="EEF3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67004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09067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906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análisis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3547872"/>
            <a:ext cx="1572768" cy="65836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5844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02920" y="39319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40280" y="3547872"/>
            <a:ext cx="1572768" cy="65836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40280" y="35844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240280" y="39319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977640" y="3547872"/>
            <a:ext cx="1572768" cy="658368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35844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15:42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977640" y="39319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4315968"/>
            <a:ext cx="502920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3159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Informe generado · Descargar informe (.txt)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implementadas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1691640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897880" y="1691640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89320" y="1746504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19088" y="173736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Comerciales dinámicos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hardcodear)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97880" y="2313432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97880" y="2313432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2368296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19088" y="235915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útiles: analizadas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descartadas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97880" y="2935224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897880" y="2935224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9320" y="2990088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19088" y="2980944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progreso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 etapas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97880" y="3557016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897880" y="3557016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89320" y="3611880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419088" y="360273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del informe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.txt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97880" y="4178808"/>
            <a:ext cx="2926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897880" y="4178808"/>
            <a:ext cx="54864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423367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419088" y="42245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persistentes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cambios de filtro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897880" y="48280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github.com/Antonio-Rodriguez10/coach-ia-comercial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RESULTADOS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preliminares de impacto real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2011680"/>
          </a:xfrm>
          <a:prstGeom prst="rect">
            <a:avLst/>
          </a:prstGeom>
          <a:solidFill>
            <a:srgbClr val="8FA8D8"/>
          </a:solidFill>
          <a:ln w="12700">
            <a:solidFill>
              <a:srgbClr val="8FA8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análisis 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214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3,07% – 4,34%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speech → matrícula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2011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704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Coach 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1214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5,64% – 6,10%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724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speech → matrícula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41648" y="1874520"/>
            <a:ext cx="1060704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41648" y="1874520"/>
            <a:ext cx="1060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+83%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246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de validación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2029968" cy="123444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730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conversión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07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Superada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3657600"/>
            <a:ext cx="2029968" cy="123444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51760" y="3730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efectivo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51760" y="4507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En validación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657600"/>
            <a:ext cx="2029968" cy="123444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730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aplicadas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4507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En validación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3657600"/>
            <a:ext cx="2029968" cy="123444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040880" y="373075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director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4/5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4507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En validación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Datos preliminares · No experimento controlado · La mejora no puede atribuirse exclusivamente al agente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200400"/>
            <a:ext cx="4572000" cy="457200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diferente?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5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743200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35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Aircall / Ringover / Gong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280160"/>
            <a:ext cx="2743200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335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 Comercial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mide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92808"/>
            <a:ext cx="2743200" cy="566928"/>
          </a:xfrm>
          <a:prstGeom prst="rect">
            <a:avLst/>
          </a:prstGeom>
          <a:solidFill>
            <a:srgbClr val="0A1228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ratio escucha, keywords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892808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947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está vendiendo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505456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evalúa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2505456"/>
            <a:ext cx="2743200" cy="566928"/>
          </a:xfrm>
          <a:prstGeom prst="rect">
            <a:avLst/>
          </a:prstGeom>
          <a:solidFill>
            <a:srgbClr val="0A1228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superficiales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2505456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comercial completo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118104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72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3118104"/>
            <a:ext cx="2743200" cy="566928"/>
          </a:xfrm>
          <a:prstGeom prst="rect">
            <a:avLst/>
          </a:prstGeom>
          <a:solidFill>
            <a:srgbClr val="0A1228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3172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actividad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3118104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72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accionables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730752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856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91840" y="3730752"/>
            <a:ext cx="2743200" cy="566928"/>
          </a:xfrm>
          <a:prstGeom prst="rect">
            <a:avLst/>
          </a:prstGeom>
          <a:solidFill>
            <a:srgbClr val="0A1228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7856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/ IT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0" y="3730752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7856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Comercial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3982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0" y="4343400"/>
            <a:ext cx="2743200" cy="566928"/>
          </a:xfrm>
          <a:prstGeom prst="rect">
            <a:avLst/>
          </a:prstGeom>
          <a:solidFill>
            <a:srgbClr val="0A1228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3982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 métricas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4343400"/>
            <a:ext cx="2743200" cy="566928"/>
          </a:xfrm>
          <a:prstGeom prst="rect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3982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estructurada del equipo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82296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6642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9728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972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8600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funcional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Streamlit + OpenAI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Archivos .txt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986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Output en pantalla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552" y="16642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9232" y="109728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10972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42032" y="22860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2032" y="2286000"/>
            <a:ext cx="19202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Aircall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33472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Ingesta automática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33472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Sin intervención manual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33472" y="3986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Flujo completo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58384" y="16642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84064" y="109728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0972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26864" y="22860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2286000"/>
            <a:ext cx="19202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18304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Histórico de desempeño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18304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Comparativas equipo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18304" y="3986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Airtable base conocimiento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43216" y="166420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68896" y="109728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68896" y="10972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11696" y="228600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11696" y="2286000"/>
            <a:ext cx="192024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03136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 agentes especializados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03136" y="34564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Alertas automáticas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03136" y="39867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Otros sectores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F1A3C"/>
          </a:solidFill>
          <a:ln w="12700">
            <a:solidFill>
              <a:srgbClr val="0F1A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IA Comercial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automatiza la venta.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mejora.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4A90D9">
              <a:alpha val="50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llamadas comerciales en información accionable,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permitiendo tomar decisiones basadas en el proceso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 únicamente en el resultado.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Rodríguez Galán  ·  github.com/Antonio-Rodriguez10/coach-ia-comercial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 IA Comercial — Proyecto Final</dc:title>
  <dc:subject>PptxGenJS Presentation</dc:subject>
  <dc:creator>Antonio Rodríguez Galán</dc:creator>
  <cp:lastModifiedBy>Antonio Rodríguez Galán</cp:lastModifiedBy>
  <cp:revision>1</cp:revision>
  <dcterms:created xsi:type="dcterms:W3CDTF">2026-05-05T20:41:40Z</dcterms:created>
  <dcterms:modified xsi:type="dcterms:W3CDTF">2026-05-05T20:41:40Z</dcterms:modified>
</cp:coreProperties>
</file>